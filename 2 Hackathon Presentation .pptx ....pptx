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0" r:id="rId6"/>
    <p:sldId id="261" r:id="rId7"/>
    <p:sldId id="262" r:id="rId8"/>
    <p:sldId id="263" r:id="rId9"/>
    <p:sldId id="264" r:id="rId10"/>
    <p:sldId id="268" r:id="rId11"/>
    <p:sldId id="2689" r:id="rId12"/>
    <p:sldId id="259" r:id="rId13"/>
  </p:sldIdLst>
  <p:sldSz cx="9902825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pos="311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7" d="100"/>
          <a:sy n="77" d="100"/>
        </p:scale>
        <p:origin x="1363" y="67"/>
      </p:cViewPr>
      <p:guideLst>
        <p:guide pos="311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Malgun Gothic" panose="020B0503020000020004" charset="-127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Malgun Gothic" panose="020B0503020000020004" charset="-127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Malgun Gothic" panose="020B0503020000020004" charset="-127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Malgun Gothic" panose="020B0503020000020004" charset="-127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Malgun Gothic" panose="020B0503020000020004" charset="-127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Malgun Gothic" panose="020B0503020000020004" charset="-127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Malgun Gothic" panose="020B0503020000020004" charset="-127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Malgun Gothic" panose="020B0503020000020004" charset="-127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Malgun Gothic" panose="020B0503020000020004" charset="-127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Malgun Gothic" panose="020B0503020000020004" charset="-127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Malgun Gothic" panose="020B0503020000020004" charset="-127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Malgun Gothic" panose="020B0503020000020004" charset="-127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Malgun Gothic" panose="020B0503020000020004" charset="-127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Malgun Gothic" panose="020B0503020000020004" charset="-127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Malgun Gothic" panose="020B0503020000020004" charset="-127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Malgun Gothic" panose="020B0503020000020004" charset="-127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Malgun Gothic" panose="020B0503020000020004" charset="-127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Malgun Gothic" panose="020B0503020000020004" charset="-127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Malgun Gothic" panose="020B0503020000020004" charset="-127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Malgun Gothic" panose="020B0503020000020004" charset="-127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Malgun Gothic" panose="020B0503020000020004" charset="-127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Malgun Gothic" panose="020B0503020000020004" charset="-127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Malgun Gothic" panose="020B0503020000020004" charset="-127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Malgun Gothic" panose="020B0503020000020004" charset="-127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Malgun Gothic" panose="020B0503020000020004" charset="-127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Malgun Gothic" panose="020B0503020000020004" charset="-127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Malgun Gothic" panose="020B0503020000020004" charset="-127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Malgun Gothic" panose="020B0503020000020004" charset="-127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Malgun Gothic" panose="020B0503020000020004" charset="-127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Malgun Gothic" panose="020B0503020000020004" charset="-127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Malgun Gothic" panose="020B0503020000020004" charset="-127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Malgun Gothic" panose="020B0503020000020004" charset="-127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Malgun Gothic" panose="020B0503020000020004" charset="-127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Malgun Gothic" panose="020B0503020000020004" charset="-127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Malgun Gothic" panose="020B0503020000020004" charset="-127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Malgun Gothic" panose="020B0503020000020004" charset="-127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 panose="020B0503020000020004" charset="-127"/>
                <a:ea typeface="Malgun Gothic" panose="020B0503020000020004" charset="-127"/>
                <a:cs typeface="Malgun Gothic" panose="020B0503020000020004" charset="-127"/>
                <a:sym typeface="Malgun Gothic" panose="020B0503020000020004" charset="-127"/>
              </a:rPr>
            </a:fld>
            <a:endParaRPr sz="1200" b="0" i="0" u="none" strike="noStrike" cap="none">
              <a:solidFill>
                <a:schemeClr val="dk1"/>
              </a:solidFill>
              <a:latin typeface="Malgun Gothic" panose="020B0503020000020004" charset="-127"/>
              <a:ea typeface="Malgun Gothic" panose="020B0503020000020004" charset="-127"/>
              <a:cs typeface="Malgun Gothic" panose="020B0503020000020004" charset="-127"/>
              <a:sym typeface="Malgun Gothic" panose="020B0503020000020004" charset="-127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ont Cover">
  <p:cSld name="Front Cover">
    <p:bg>
      <p:bgPr>
        <a:solidFill>
          <a:srgbClr val="F2F2F2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6"/>
          <p:cNvSpPr/>
          <p:nvPr/>
        </p:nvSpPr>
        <p:spPr>
          <a:xfrm>
            <a:off x="449468" y="450000"/>
            <a:ext cx="1282022" cy="198000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 panose="020B0604020202020204"/>
              <a:buNone/>
            </a:pPr>
            <a:endParaRPr sz="196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3" name="Google Shape;13;p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265631" y="6141164"/>
            <a:ext cx="1371564" cy="4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6"/>
          <p:cNvSpPr/>
          <p:nvPr/>
        </p:nvSpPr>
        <p:spPr>
          <a:xfrm>
            <a:off x="990000" y="4320000"/>
            <a:ext cx="58325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428A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Coding and Programming Course</a:t>
            </a:r>
            <a:endParaRPr sz="2400" b="0" i="0" u="none" strike="noStrike" cap="none">
              <a:solidFill>
                <a:srgbClr val="1428A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Google Shape;15;p6"/>
          <p:cNvSpPr/>
          <p:nvPr/>
        </p:nvSpPr>
        <p:spPr>
          <a:xfrm>
            <a:off x="724689" y="4320000"/>
            <a:ext cx="54000" cy="360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" name="Google Shape;16;p6"/>
          <p:cNvSpPr txBox="1">
            <a:spLocks noGrp="1"/>
          </p:cNvSpPr>
          <p:nvPr>
            <p:ph type="body" idx="1"/>
          </p:nvPr>
        </p:nvSpPr>
        <p:spPr>
          <a:xfrm>
            <a:off x="720000" y="3551768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720000" y="1710000"/>
            <a:ext cx="522101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 panose="020B0604020202020204"/>
              <a:buNone/>
              <a:defRPr sz="4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able of Contents2">
  <p:cSld name="3_Table of Contents2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1588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" name="Google Shape;20;p7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" name="Google Shape;21;p7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 panose="020B0604020202020204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2" name="Google Shape;22;p7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Samsung Innovation Campus</a:t>
            </a:r>
            <a:endParaRPr lang="en-US" sz="11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last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" y="4395"/>
            <a:ext cx="9899651" cy="685360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9"/>
          <p:cNvSpPr/>
          <p:nvPr/>
        </p:nvSpPr>
        <p:spPr>
          <a:xfrm>
            <a:off x="2" y="0"/>
            <a:ext cx="9899651" cy="6858000"/>
          </a:xfrm>
          <a:prstGeom prst="rect">
            <a:avLst/>
          </a:prstGeom>
          <a:solidFill>
            <a:srgbClr val="1428A0">
              <a:alpha val="8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6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8" name="Google Shape;38;p9"/>
          <p:cNvSpPr/>
          <p:nvPr/>
        </p:nvSpPr>
        <p:spPr>
          <a:xfrm>
            <a:off x="449468" y="5677032"/>
            <a:ext cx="9000714" cy="730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ⓒ2023 SAMSUNG. All rights reserved.</a:t>
            </a:r>
            <a:endParaRPr lang="en-US" sz="1000" b="0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Samsung Electronics Corporate Citizenship Office holds the copyright of book.</a:t>
            </a:r>
            <a:endParaRPr lang="en-US" sz="1000" b="0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This book is a literary property protected by copyright law so reprint and reproduction without permission are prohibited. </a:t>
            </a:r>
            <a:endParaRPr lang="en-US" sz="1000" b="0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 panose="020B0604020202020204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To use this book other than the curriculum of Samsung Innovation Campus or to use the entire or part of this book, you must receive written consent from copyright holder.</a:t>
            </a:r>
            <a:endParaRPr lang="en-US" sz="1000" b="0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9" name="Google Shape;39;p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711822" y="3022951"/>
            <a:ext cx="2476006" cy="81209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449468" y="450000"/>
            <a:ext cx="1290568" cy="198000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 panose="020B0604020202020204"/>
              <a:buNone/>
            </a:pPr>
            <a:endParaRPr sz="196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Google Shape;42;p10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3" name="Google Shape;43;p10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 panose="020B0604020202020204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4" name="Google Shape;44;p10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Samsung Innovation Campus</a:t>
            </a:r>
            <a:endParaRPr lang="en-US" sz="1100" b="0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5" name="Google Shape;45;p10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Project Name</a:t>
            </a:r>
            <a:endParaRPr lang="en-US" sz="900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able of Contents2">
  <p:cSld name="2_Table of Contents2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1588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" name="Google Shape;48;p11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9" name="Google Shape;49;p11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 panose="020B0604020202020204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0" name="Google Shape;50;p11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Samsung Innovation Campus</a:t>
            </a:r>
            <a:endParaRPr lang="en-US" sz="1100" b="0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1" name="Google Shape;51;p11"/>
          <p:cNvSpPr/>
          <p:nvPr/>
        </p:nvSpPr>
        <p:spPr>
          <a:xfrm>
            <a:off x="990000" y="4157757"/>
            <a:ext cx="356333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428A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C&amp;P Course</a:t>
            </a:r>
            <a:endParaRPr sz="2100">
              <a:solidFill>
                <a:srgbClr val="1428A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2" name="Google Shape;52;p11"/>
          <p:cNvSpPr/>
          <p:nvPr/>
        </p:nvSpPr>
        <p:spPr>
          <a:xfrm>
            <a:off x="720000" y="2095275"/>
            <a:ext cx="60008" cy="1759369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3" name="Google Shape;53;p11"/>
          <p:cNvSpPr/>
          <p:nvPr/>
        </p:nvSpPr>
        <p:spPr>
          <a:xfrm>
            <a:off x="720000" y="4157757"/>
            <a:ext cx="60008" cy="323165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/>
          </p:nvPr>
        </p:nvSpPr>
        <p:spPr>
          <a:xfrm>
            <a:off x="990000" y="2095275"/>
            <a:ext cx="5221019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990000" y="3577645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able of Contents">
  <p:cSld name="3_Table of Contents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2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" name="Google Shape;59;p12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 panose="020B0604020202020204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0" name="Google Shape;60;p12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Samsung Innovation Campus</a:t>
            </a:r>
            <a:endParaRPr lang="en-US" sz="1100" b="0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1" name="Google Shape;61;p12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Project Name</a:t>
            </a:r>
            <a:endParaRPr lang="en-US" sz="900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able of Contents">
  <p:cSld name="1_Table of Contents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" name="Google Shape;64;p13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5" name="Google Shape;65;p13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 panose="020B0604020202020204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Samsung Innovation Campus</a:t>
            </a:r>
            <a:endParaRPr lang="en-US" sz="1100" b="0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Project Name</a:t>
            </a:r>
            <a:endParaRPr lang="en-US" sz="900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">
  <p:cSld name="Bod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p14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0" name="Google Shape;70;p14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 panose="020B0604020202020204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Samsung Innovation Campus</a:t>
            </a:r>
            <a:endParaRPr lang="en-US" sz="1100" b="0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72" name="Google Shape;72;p14"/>
          <p:cNvCxnSpPr/>
          <p:nvPr/>
        </p:nvCxnSpPr>
        <p:spPr>
          <a:xfrm>
            <a:off x="449468" y="900000"/>
            <a:ext cx="9000714" cy="0"/>
          </a:xfrm>
          <a:prstGeom prst="straightConnector1">
            <a:avLst/>
          </a:prstGeom>
          <a:noFill/>
          <a:ln w="15875" cap="flat" cmpd="sng">
            <a:solidFill>
              <a:srgbClr val="0924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3" name="Google Shape;73;p14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Project Name</a:t>
            </a:r>
            <a:endParaRPr lang="en-US" sz="900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ody">
  <p:cSld name="1_Body">
    <p:bg>
      <p:bgPr>
        <a:solidFill>
          <a:srgbClr val="F2F2F2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449468" y="450000"/>
            <a:ext cx="1282022" cy="198000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 panose="020B0604020202020204"/>
              <a:buNone/>
            </a:pPr>
            <a:endParaRPr sz="196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265631" y="6141164"/>
            <a:ext cx="1371564" cy="4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reak Tim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5"/>
          <p:cNvSpPr txBox="1"/>
          <p:nvPr userDrawn="1"/>
        </p:nvSpPr>
        <p:spPr>
          <a:xfrm>
            <a:off x="6324398" y="6347711"/>
            <a:ext cx="243335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ko-KR" sz="1100" kern="1200" dirty="0">
                <a:solidFill>
                  <a:schemeClr val="bg1">
                    <a:lumMod val="50000"/>
                  </a:schemeClr>
                </a:solidFill>
                <a:latin typeface="SamsungSharpSans-Medium" pitchFamily="2" charset="0"/>
                <a:ea typeface="SamsungSharpSans-Medium" pitchFamily="2" charset="0"/>
                <a:cs typeface="SamsungSharpSans-Medium" pitchFamily="2" charset="0"/>
              </a:rPr>
              <a:t>Chapter 2. Math for Data Science</a:t>
            </a:r>
            <a:endParaRPr lang="ko-KR" altLang="en-US" sz="1100" kern="1200" dirty="0">
              <a:solidFill>
                <a:schemeClr val="bg1">
                  <a:lumMod val="50000"/>
                </a:schemeClr>
              </a:solidFill>
              <a:latin typeface="SamsungSharpSans-Medium" pitchFamily="2" charset="0"/>
              <a:ea typeface="SamsungSharpSans-Medium" pitchFamily="2" charset="0"/>
              <a:cs typeface="SamsungSharpSans-Medium" pitchFamily="2" charset="0"/>
            </a:endParaRPr>
          </a:p>
        </p:txBody>
      </p:sp>
      <p:sp>
        <p:nvSpPr>
          <p:cNvPr id="3" name="슬라이드 번호 개체 틀 15"/>
          <p:cNvSpPr txBox="1"/>
          <p:nvPr userDrawn="1"/>
        </p:nvSpPr>
        <p:spPr>
          <a:xfrm>
            <a:off x="8805867" y="6347726"/>
            <a:ext cx="538163" cy="1692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3977B04-C971-4466-AB79-612C9E649B30}" type="slidenum">
              <a:rPr lang="en-US" altLang="ko-KR" sz="1100" smtClean="0">
                <a:latin typeface="SamsungOne 400" panose="020B0503030303020204" pitchFamily="34" charset="0"/>
                <a:ea typeface="SamsungOne 400" panose="020B0503030303020204" pitchFamily="34" charset="0"/>
              </a:rPr>
            </a:fld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Arial Unicode MS" panose="020B0604020202020204" pitchFamily="50" charset="-127"/>
              </a:rPr>
              <a:t>/44</a:t>
            </a:r>
            <a:endParaRPr lang="en-US" altLang="ko-KR" sz="11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>
            <a:spLocks noGrp="1"/>
          </p:cNvSpPr>
          <p:nvPr>
            <p:ph type="body" idx="1"/>
          </p:nvPr>
        </p:nvSpPr>
        <p:spPr>
          <a:xfrm>
            <a:off x="720000" y="3551768"/>
            <a:ext cx="6837808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rPr lang="en-US"/>
              <a:t>Team Name 155</a:t>
            </a:r>
            <a:endParaRPr lang="en-US"/>
          </a:p>
        </p:txBody>
      </p:sp>
      <p:sp>
        <p:nvSpPr>
          <p:cNvPr id="83" name="Google Shape;83;p1"/>
          <p:cNvSpPr txBox="1">
            <a:spLocks noGrp="1"/>
          </p:cNvSpPr>
          <p:nvPr>
            <p:ph type="title"/>
          </p:nvPr>
        </p:nvSpPr>
        <p:spPr>
          <a:xfrm>
            <a:off x="720090" y="1710055"/>
            <a:ext cx="7673975" cy="1148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 panose="020B0604020202020204"/>
              <a:buNone/>
            </a:pPr>
            <a:r>
              <a:rPr>
                <a:sym typeface="+mn-ea"/>
              </a:rPr>
              <a:t>String Analyzing Too</a:t>
            </a:r>
            <a:r>
              <a:rPr lang="en-US">
                <a:sym typeface="+mn-ea"/>
              </a:rPr>
              <a:t>l</a:t>
            </a:r>
            <a:endParaRPr lang="en-US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/>
          <p:cNvGrpSpPr/>
          <p:nvPr/>
        </p:nvGrpSpPr>
        <p:grpSpPr>
          <a:xfrm>
            <a:off x="710836" y="1583927"/>
            <a:ext cx="7075120" cy="3269183"/>
            <a:chOff x="4181256" y="3224809"/>
            <a:chExt cx="7075120" cy="3269183"/>
          </a:xfrm>
        </p:grpSpPr>
        <p:sp>
          <p:nvSpPr>
            <p:cNvPr id="89" name="Google Shape;89;p2"/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About our Team</a:t>
              </a:r>
              <a:endParaRPr dirty="0"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4955647" y="3800957"/>
              <a:ext cx="6300729" cy="26930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250000"/>
                </a:lnSpc>
              </a:pPr>
              <a:r>
                <a:rPr lang="en-IN" dirty="0"/>
                <a:t>Team Name</a:t>
              </a:r>
              <a:r>
                <a:rPr lang="en-US" altLang="en-IN" dirty="0"/>
                <a:t> - String Analyzing Tool Members</a:t>
              </a:r>
              <a:endParaRPr lang="en-IN" dirty="0"/>
            </a:p>
            <a:p>
              <a:pPr lvl="0">
                <a:lnSpc>
                  <a:spcPct val="250000"/>
                </a:lnSpc>
              </a:pPr>
              <a:r>
                <a:rPr lang="en-IN" dirty="0"/>
                <a:t>Project Title</a:t>
              </a:r>
              <a:r>
                <a:rPr lang="en-US" altLang="en-IN" dirty="0"/>
                <a:t> - String Analyzing Tool</a:t>
              </a:r>
              <a:endParaRPr lang="en-IN" dirty="0"/>
            </a:p>
            <a:p>
              <a:pPr lvl="0">
                <a:lnSpc>
                  <a:spcPct val="250000"/>
                </a:lnSpc>
              </a:pPr>
              <a:r>
                <a:rPr lang="en-IN" dirty="0"/>
                <a:t>Team Members &amp; Role</a:t>
              </a:r>
              <a:r>
                <a:rPr lang="en-US" altLang="en-IN" dirty="0"/>
                <a:t> - </a:t>
              </a:r>
              <a:r>
                <a:rPr lang="en-US" altLang="en-IN" dirty="0">
                  <a:sym typeface="+mn-ea"/>
                </a:rPr>
                <a:t>Jagdeesh Chandra, Nikita, Ajay, Manpreet.</a:t>
              </a:r>
              <a:endParaRPr lang="en-IN" dirty="0"/>
            </a:p>
            <a:p>
              <a:pPr lvl="0">
                <a:lnSpc>
                  <a:spcPct val="250000"/>
                </a:lnSpc>
              </a:pPr>
              <a:r>
                <a:rPr lang="en-IN" dirty="0"/>
                <a:t>Course: SIC Coding &amp; Programming</a:t>
              </a:r>
              <a:endParaRPr lang="en-IN" dirty="0"/>
            </a:p>
            <a:p>
              <a:pPr lvl="0">
                <a:lnSpc>
                  <a:spcPct val="250000"/>
                </a:lnSpc>
              </a:pPr>
              <a:r>
                <a:rPr lang="en-IN" dirty="0"/>
                <a:t>College &amp; Batch Code </a:t>
              </a:r>
              <a:r>
                <a:rPr lang="en-US" altLang="en-IN" dirty="0"/>
                <a:t>- 15</a:t>
              </a:r>
              <a:endParaRPr lang="en-US" altLang="en-IN" dirty="0"/>
            </a:p>
          </p:txBody>
        </p:sp>
      </p:grpSp>
      <p:sp>
        <p:nvSpPr>
          <p:cNvPr id="100" name="Google Shape;100;p2"/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Project Name</a:t>
            </a:r>
            <a:endParaRPr sz="2400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/>
          <p:cNvGrpSpPr/>
          <p:nvPr/>
        </p:nvGrpSpPr>
        <p:grpSpPr>
          <a:xfrm>
            <a:off x="710836" y="1583927"/>
            <a:ext cx="4379913" cy="278172"/>
            <a:chOff x="4181256" y="3224809"/>
            <a:chExt cx="4379913" cy="278172"/>
          </a:xfrm>
        </p:grpSpPr>
        <p:sp>
          <p:nvSpPr>
            <p:cNvPr id="89" name="Google Shape;89;p2"/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Problem Statement</a:t>
              </a:r>
              <a:endParaRPr dirty="0"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00" name="Google Shape;100;p2"/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Project Name</a:t>
            </a:r>
            <a:endParaRPr sz="2400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619885" y="2230755"/>
            <a:ext cx="3775710" cy="3028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494155" y="2393950"/>
            <a:ext cx="495300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>
                <a:sym typeface="+mn-ea"/>
              </a:rPr>
              <a:t>Manual string analysis is time-consuming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Difficult to identify patterns in large text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Need an automated and efficient solution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Errors may occur in manual processing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is is time-consuming</a:t>
            </a:r>
            <a:endParaRPr>
              <a:sym typeface="+mn-ea"/>
            </a:endParaRPr>
          </a:p>
          <a:p>
            <a:endParaRPr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/>
          <p:cNvGrpSpPr/>
          <p:nvPr/>
        </p:nvGrpSpPr>
        <p:grpSpPr>
          <a:xfrm>
            <a:off x="710836" y="1583927"/>
            <a:ext cx="4379913" cy="278172"/>
            <a:chOff x="4181256" y="3224809"/>
            <a:chExt cx="4379913" cy="278172"/>
          </a:xfrm>
        </p:grpSpPr>
        <p:sp>
          <p:nvSpPr>
            <p:cNvPr id="89" name="Google Shape;89;p2"/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Objective of the Project</a:t>
              </a:r>
              <a:endParaRPr dirty="0"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00" name="Google Shape;100;p2"/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Project Name</a:t>
            </a:r>
            <a:endParaRPr sz="2400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052619" y="2264051"/>
            <a:ext cx="3902075" cy="127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>
                <a:sym typeface="+mn-ea"/>
              </a:rPr>
              <a:t>Analyze input strings efficiently</a:t>
            </a:r>
            <a:endParaRPr>
              <a:sym typeface="+mn-ea"/>
            </a:endParaRPr>
          </a:p>
          <a:p>
            <a:pPr lvl="1" algn="l"/>
            <a:r>
              <a:rPr>
                <a:sym typeface="+mn-ea"/>
              </a:rPr>
              <a:t>Count characters, words, and lines</a:t>
            </a:r>
            <a:endParaRPr>
              <a:sym typeface="+mn-ea"/>
            </a:endParaRPr>
          </a:p>
          <a:p>
            <a:pPr lvl="1" algn="l"/>
            <a:r>
              <a:rPr>
                <a:sym typeface="+mn-ea"/>
              </a:rPr>
              <a:t>Check vowels, consonants, digits, and symbols</a:t>
            </a:r>
            <a:endParaRPr>
              <a:sym typeface="+mn-ea"/>
            </a:endParaRPr>
          </a:p>
          <a:p>
            <a:pPr lvl="1" algn="l"/>
            <a:r>
              <a:rPr>
                <a:sym typeface="+mn-ea"/>
              </a:rPr>
              <a:t>Provide fast and accurate results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/>
          <p:cNvGrpSpPr/>
          <p:nvPr/>
        </p:nvGrpSpPr>
        <p:grpSpPr>
          <a:xfrm>
            <a:off x="710836" y="1583927"/>
            <a:ext cx="4379913" cy="278172"/>
            <a:chOff x="4181256" y="3224809"/>
            <a:chExt cx="4379913" cy="278172"/>
          </a:xfrm>
        </p:grpSpPr>
        <p:sp>
          <p:nvSpPr>
            <p:cNvPr id="89" name="Google Shape;89;p2"/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Proposed Solution</a:t>
              </a:r>
              <a:endParaRPr dirty="0"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00" name="Google Shape;100;p2"/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Project Name</a:t>
            </a:r>
            <a:endParaRPr sz="2400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30626" y="2172016"/>
            <a:ext cx="3051810" cy="1599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>
                <a:sym typeface="+mn-ea"/>
              </a:rPr>
              <a:t>A Project that can do</a:t>
            </a:r>
            <a:endParaRPr>
              <a:sym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>
                <a:sym typeface="+mn-ea"/>
              </a:rPr>
              <a:t>Character count</a:t>
            </a:r>
            <a:endParaRPr>
              <a:sym typeface="+mn-ea"/>
            </a:endParaRPr>
          </a:p>
          <a:p>
            <a:pPr lvl="1" algn="l"/>
            <a:r>
              <a:rPr>
                <a:sym typeface="+mn-ea"/>
              </a:rPr>
              <a:t>Word and sentence count</a:t>
            </a:r>
            <a:endParaRPr>
              <a:sym typeface="+mn-ea"/>
            </a:endParaRPr>
          </a:p>
          <a:p>
            <a:pPr lvl="1" algn="l"/>
            <a:r>
              <a:rPr>
                <a:sym typeface="+mn-ea"/>
              </a:rPr>
              <a:t>Vowel and consonant analysis</a:t>
            </a:r>
            <a:endParaRPr>
              <a:sym typeface="+mn-ea"/>
            </a:endParaRPr>
          </a:p>
          <a:p>
            <a:pPr lvl="1" algn="l"/>
            <a:r>
              <a:rPr>
                <a:sym typeface="+mn-ea"/>
              </a:rPr>
              <a:t>Digit and special character detection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/>
          <p:cNvGrpSpPr/>
          <p:nvPr/>
        </p:nvGrpSpPr>
        <p:grpSpPr>
          <a:xfrm>
            <a:off x="710836" y="1583927"/>
            <a:ext cx="4379913" cy="278172"/>
            <a:chOff x="4181256" y="3224809"/>
            <a:chExt cx="4379913" cy="278172"/>
          </a:xfrm>
        </p:grpSpPr>
        <p:sp>
          <p:nvSpPr>
            <p:cNvPr id="89" name="Google Shape;89;p2"/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System Architecture / Flow Diagram</a:t>
              </a:r>
              <a:endParaRPr dirty="0"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00" name="Google Shape;100;p2"/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Project Name</a:t>
            </a:r>
            <a:endParaRPr sz="2400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30626" y="2387599"/>
            <a:ext cx="3150870" cy="116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342900" lvl="0" indent="-342900"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>
                <a:sym typeface="+mn-ea"/>
              </a:rPr>
              <a:t>User enters a string as input</a:t>
            </a:r>
            <a:endParaRPr>
              <a:sym typeface="+mn-ea"/>
            </a:endParaRPr>
          </a:p>
          <a:p>
            <a:pPr lvl="1" algn="l"/>
            <a:r>
              <a:rPr>
                <a:sym typeface="+mn-ea"/>
              </a:rPr>
              <a:t>System processes the string</a:t>
            </a:r>
            <a:endParaRPr>
              <a:sym typeface="+mn-ea"/>
            </a:endParaRPr>
          </a:p>
          <a:p>
            <a:pPr lvl="1" algn="l"/>
            <a:r>
              <a:rPr>
                <a:sym typeface="+mn-ea"/>
              </a:rPr>
              <a:t>Different string operations are applied</a:t>
            </a:r>
            <a:endParaRPr>
              <a:sym typeface="+mn-ea"/>
            </a:endParaRPr>
          </a:p>
          <a:p>
            <a:pPr lvl="1" algn="l"/>
            <a:r>
              <a:rPr>
                <a:sym typeface="+mn-ea"/>
              </a:rPr>
              <a:t>Results are displayed to the user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/>
          <p:cNvGrpSpPr/>
          <p:nvPr/>
        </p:nvGrpSpPr>
        <p:grpSpPr>
          <a:xfrm>
            <a:off x="710836" y="1583927"/>
            <a:ext cx="4379913" cy="278172"/>
            <a:chOff x="4181256" y="3224809"/>
            <a:chExt cx="4379913" cy="278172"/>
          </a:xfrm>
        </p:grpSpPr>
        <p:sp>
          <p:nvSpPr>
            <p:cNvPr id="89" name="Google Shape;89;p2"/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Tools, Technologies &amp; Libraries</a:t>
              </a:r>
              <a:endParaRPr dirty="0"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00" name="Google Shape;100;p2"/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Project Name</a:t>
            </a:r>
            <a:endParaRPr sz="2400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93805" y="2083214"/>
            <a:ext cx="6142382" cy="2568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>
                <a:sym typeface="+mn-ea"/>
              </a:rPr>
              <a:t>Programming Language: Python / Java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Frontend: HTML, CSS (if web-based)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Backend Logic: String functions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IDE: VS Code / Eclipse</a:t>
            </a:r>
            <a:endParaRPr>
              <a:sym typeface="+mn-ea"/>
            </a:endParaRPr>
          </a:p>
          <a:p>
            <a:pPr lvl="1"/>
            <a:endParaRPr lang="en-IN" dirty="0"/>
          </a:p>
          <a:p>
            <a:pPr lvl="1"/>
            <a:r>
              <a:rPr>
                <a:sym typeface="+mn-ea"/>
              </a:rPr>
              <a:t>Text editors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Data validation systems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Educational projects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Natural Language Processing basics</a:t>
            </a:r>
            <a:endParaRPr>
              <a:sym typeface="+mn-ea"/>
            </a:endParaRPr>
          </a:p>
          <a:p>
            <a:pPr lvl="1"/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/>
          <p:cNvGrpSpPr/>
          <p:nvPr/>
        </p:nvGrpSpPr>
        <p:grpSpPr>
          <a:xfrm>
            <a:off x="710836" y="1583927"/>
            <a:ext cx="4379913" cy="278172"/>
            <a:chOff x="4181256" y="3224809"/>
            <a:chExt cx="4379913" cy="278172"/>
          </a:xfrm>
        </p:grpSpPr>
        <p:sp>
          <p:nvSpPr>
            <p:cNvPr id="89" name="Google Shape;89;p2"/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Results &amp; Performance</a:t>
              </a:r>
              <a:endParaRPr dirty="0"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00" name="Google Shape;100;p2"/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Project Name</a:t>
            </a:r>
            <a:endParaRPr sz="2400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975707" y="2373522"/>
            <a:ext cx="3506470" cy="2568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47675" algn="l"/>
              </a:tabLst>
            </a:pPr>
            <a:r>
              <a:rPr>
                <a:sym typeface="+mn-ea"/>
              </a:rPr>
              <a:t>Add advanced text analysis features</a:t>
            </a:r>
            <a:endParaRPr>
              <a:sym typeface="+mn-ea"/>
            </a:endParaRPr>
          </a:p>
          <a:p>
            <a:pPr lvl="1" algn="l"/>
            <a:r>
              <a:rPr>
                <a:sym typeface="+mn-ea"/>
              </a:rPr>
              <a:t>Support multiple languages</a:t>
            </a:r>
            <a:endParaRPr>
              <a:sym typeface="+mn-ea"/>
            </a:endParaRPr>
          </a:p>
          <a:p>
            <a:pPr lvl="1" algn="l"/>
            <a:r>
              <a:rPr>
                <a:sym typeface="+mn-ea"/>
              </a:rPr>
              <a:t>Integrate with AI and NLP</a:t>
            </a:r>
            <a:endParaRPr>
              <a:sym typeface="+mn-ea"/>
            </a:endParaRPr>
          </a:p>
          <a:p>
            <a:pPr lvl="1" algn="l"/>
            <a:r>
              <a:rPr>
                <a:sym typeface="+mn-ea"/>
              </a:rPr>
              <a:t>Improve user interface</a:t>
            </a:r>
            <a:endParaRPr>
              <a:sym typeface="+mn-ea"/>
            </a:endParaRPr>
          </a:p>
          <a:p>
            <a:pPr lvl="1" algn="l"/>
            <a:endParaRPr lang="en-IN" dirty="0"/>
          </a:p>
          <a:p>
            <a:pPr lvl="1" algn="l"/>
            <a:r>
              <a:rPr>
                <a:solidFill>
                  <a:schemeClr val="accent4"/>
                </a:solidFill>
                <a:effectLst/>
                <a:sym typeface="+mn-ea"/>
              </a:rPr>
              <a:t>String Analyzing Tool is a useful project</a:t>
            </a:r>
            <a:endParaRPr>
              <a:solidFill>
                <a:schemeClr val="accent4"/>
              </a:solidFill>
              <a:effectLst/>
            </a:endParaRPr>
          </a:p>
          <a:p>
            <a:pPr lvl="1" algn="l"/>
            <a:r>
              <a:rPr>
                <a:solidFill>
                  <a:schemeClr val="accent4"/>
                </a:solidFill>
                <a:sym typeface="+mn-ea"/>
              </a:rPr>
              <a:t>Helps understand string operations clearly</a:t>
            </a:r>
            <a:endParaRPr>
              <a:solidFill>
                <a:schemeClr val="accent4"/>
              </a:solidFill>
            </a:endParaRPr>
          </a:p>
          <a:p>
            <a:pPr lvl="1" algn="l"/>
            <a:r>
              <a:rPr>
                <a:solidFill>
                  <a:schemeClr val="accent4"/>
                </a:solidFill>
                <a:sym typeface="+mn-ea"/>
              </a:rPr>
              <a:t>Simple yet effective application</a:t>
            </a:r>
            <a:endParaRPr>
              <a:solidFill>
                <a:schemeClr val="accent4"/>
              </a:solidFill>
            </a:endParaRPr>
          </a:p>
          <a:p>
            <a:pPr lvl="1" algn="l"/>
            <a:r>
              <a:rPr>
                <a:solidFill>
                  <a:schemeClr val="accent4"/>
                </a:solidFill>
                <a:sym typeface="+mn-ea"/>
              </a:rPr>
              <a:t>Good learning experience for beginners</a:t>
            </a:r>
            <a:endParaRPr>
              <a:solidFill>
                <a:schemeClr val="accent4"/>
              </a:solidFill>
            </a:endParaRPr>
          </a:p>
          <a:p>
            <a:pPr lvl="1" algn="l"/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-1" y="0"/>
            <a:ext cx="9902826" cy="6858000"/>
            <a:chOff x="-1" y="0"/>
            <a:chExt cx="9902826" cy="6858000"/>
          </a:xfrm>
        </p:grpSpPr>
        <p:pic>
          <p:nvPicPr>
            <p:cNvPr id="11" name="그림 2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198"/>
              <a:ext cx="9902825" cy="6855802"/>
            </a:xfrm>
            <a:prstGeom prst="rect">
              <a:avLst/>
            </a:prstGeom>
          </p:spPr>
        </p:pic>
        <p:sp>
          <p:nvSpPr>
            <p:cNvPr id="13" name="직사각형 17"/>
            <p:cNvSpPr/>
            <p:nvPr/>
          </p:nvSpPr>
          <p:spPr>
            <a:xfrm>
              <a:off x="-1" y="0"/>
              <a:ext cx="9902826" cy="6858000"/>
            </a:xfrm>
            <a:prstGeom prst="rect">
              <a:avLst/>
            </a:prstGeom>
            <a:solidFill>
              <a:schemeClr val="tx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" panose="020B0503030303020204" pitchFamily="34" charset="0"/>
                <a:ea typeface="Malgun Gothic" panose="020B0503020000020004" charset="-127"/>
                <a:cs typeface="+mn-cs"/>
              </a:endParaRPr>
            </a:p>
          </p:txBody>
        </p:sp>
        <p:cxnSp>
          <p:nvCxnSpPr>
            <p:cNvPr id="14" name="직선 연결선 11"/>
            <p:cNvCxnSpPr/>
            <p:nvPr/>
          </p:nvCxnSpPr>
          <p:spPr>
            <a:xfrm>
              <a:off x="656391" y="2327183"/>
              <a:ext cx="0" cy="1976055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33"/>
            <p:cNvSpPr/>
            <p:nvPr/>
          </p:nvSpPr>
          <p:spPr>
            <a:xfrm>
              <a:off x="848337" y="2399574"/>
              <a:ext cx="8398097" cy="18312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ko-KR" sz="5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Samsung Sharp Sans" pitchFamily="2" charset="0"/>
                  <a:cs typeface="Samsung Sharp Sans" pitchFamily="2" charset="0"/>
                </a:rPr>
                <a:t>Thank You</a:t>
              </a:r>
              <a:endParaRPr kumimoji="0" lang="en-US" altLang="ko-KR" sz="5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Samsung Sharp Sans" pitchFamily="2" charset="0"/>
                <a:cs typeface="Samsung Sharp Sans" pitchFamily="2" charset="0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en-US" altLang="ko-KR" sz="2400" b="1" kern="1200" dirty="0">
                <a:solidFill>
                  <a:prstClr val="white"/>
                </a:solidFill>
                <a:latin typeface="+mj-lt"/>
                <a:ea typeface="Samsung Sharp Sans" pitchFamily="2" charset="0"/>
                <a:cs typeface="Samsung Sharp Sans" pitchFamily="2" charset="0"/>
              </a:endParaRPr>
            </a:p>
            <a:p>
              <a:pPr lvl="0" latinLnBrk="1">
                <a:buClrTx/>
                <a:defRPr/>
              </a:pPr>
              <a:r>
                <a:rPr lang="en-IN" sz="4000" b="1" dirty="0"/>
                <a:t>Open for questions</a:t>
              </a:r>
              <a:endParaRPr kumimoji="0" lang="en-US" altLang="ko-KR" sz="5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Samsung Sharp Sans" pitchFamily="2" charset="0"/>
                <a:cs typeface="Samsung Sharp Sans" pitchFamily="2" charset="0"/>
              </a:endParaRPr>
            </a:p>
          </p:txBody>
        </p:sp>
      </p:grpSp>
      <p:cxnSp>
        <p:nvCxnSpPr>
          <p:cNvPr id="21" name="직선 연결선 8"/>
          <p:cNvCxnSpPr/>
          <p:nvPr/>
        </p:nvCxnSpPr>
        <p:spPr>
          <a:xfrm>
            <a:off x="569681" y="6209429"/>
            <a:ext cx="877434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7"/>
          <p:cNvSpPr/>
          <p:nvPr/>
        </p:nvSpPr>
        <p:spPr>
          <a:xfrm>
            <a:off x="572597" y="6355371"/>
            <a:ext cx="2888788" cy="2000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3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  <a:endParaRPr lang="en-US" altLang="ko-KR" sz="1300" b="0" dirty="0">
              <a:solidFill>
                <a:schemeClr val="bg1">
                  <a:lumMod val="50000"/>
                </a:schemeClr>
              </a:solidFill>
              <a:latin typeface="Samsung Sharp Sans Bold" pitchFamily="2" charset="0"/>
              <a:ea typeface="Samsung Sharp Sans Bold" pitchFamily="2" charset="0"/>
              <a:cs typeface="Samsung Sharp Sans Bold" pitchFamily="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1576</Words>
  <Application>WPS Presentation</Application>
  <PresentationFormat>Custom</PresentationFormat>
  <Paragraphs>89</Paragraphs>
  <Slides>10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SimSun</vt:lpstr>
      <vt:lpstr>Wingdings</vt:lpstr>
      <vt:lpstr>Arial</vt:lpstr>
      <vt:lpstr>Calibri</vt:lpstr>
      <vt:lpstr>SamsungOne 300</vt:lpstr>
      <vt:lpstr>Yu Gothic UI Light</vt:lpstr>
      <vt:lpstr>SamsungSharpSans-Medium</vt:lpstr>
      <vt:lpstr>Segoe Print</vt:lpstr>
      <vt:lpstr>SamsungOne 400</vt:lpstr>
      <vt:lpstr>Arial Unicode MS</vt:lpstr>
      <vt:lpstr>Malgun Gothic</vt:lpstr>
      <vt:lpstr>Samsung Sharp Sans</vt:lpstr>
      <vt:lpstr>Samsung Sharp Sans Bold</vt:lpstr>
      <vt:lpstr>Microsoft YaHei</vt:lpstr>
      <vt:lpstr>Arial Unicode MS</vt:lpstr>
      <vt:lpstr>Yu Gothic UI</vt:lpstr>
      <vt:lpstr>Office Theme</vt:lpstr>
      <vt:lpstr>String Analyzing Tool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Soon Yong Chang</dc:creator>
  <cp:lastModifiedBy>Nikita Rajput</cp:lastModifiedBy>
  <cp:revision>4</cp:revision>
  <dcterms:created xsi:type="dcterms:W3CDTF">2019-07-06T14:12:00Z</dcterms:created>
  <dcterms:modified xsi:type="dcterms:W3CDTF">2026-02-10T07:01:04Z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BDA8A129DD234E9EA48C0E5C0A9A35A2_13</vt:lpwstr>
  </property>
  <property fmtid="{D5CDD505-2E9C-101B-9397-08002B2CF9AE}" pid="3" name="KSOProductBuildVer">
    <vt:lpwstr>1033-12.9.0.21549</vt:lpwstr>
  </property>
</Properties>
</file>